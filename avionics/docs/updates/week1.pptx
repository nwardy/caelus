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Atkinson Hyperlegible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90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90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tkinsonHyperlegible-bold.fntdata"/><Relationship Id="rId16" Type="http://schemas.openxmlformats.org/officeDocument/2006/relationships/font" Target="fonts/AtkinsonHyperlegible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AtkinsonHyperlegible-boldItalic.fntdata"/><Relationship Id="rId6" Type="http://schemas.openxmlformats.org/officeDocument/2006/relationships/slide" Target="slides/slide1.xml"/><Relationship Id="rId18" Type="http://schemas.openxmlformats.org/officeDocument/2006/relationships/font" Target="fonts/AtkinsonHyperlegible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35e6a847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c35e6a847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35e6a847f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35e6a847f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35e6a847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35e6a847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35e6a847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35e6a847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35e6a847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35e6a847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35e6a847f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35e6a847f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35e6a847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35e6a847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35e6a847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c35e6a847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416b50f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c416b50f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11" Type="http://schemas.openxmlformats.org/officeDocument/2006/relationships/image" Target="../media/image4.png"/><Relationship Id="rId10" Type="http://schemas.openxmlformats.org/officeDocument/2006/relationships/image" Target="../media/image1.png"/><Relationship Id="rId12" Type="http://schemas.openxmlformats.org/officeDocument/2006/relationships/image" Target="../media/image11.png"/><Relationship Id="rId9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hyperlink" Target="https://sc.edu/about/offices_and_divisions/undergraduate_research/funding_opportunities/our_funding/conference-travel/index.php" TargetMode="External"/><Relationship Id="rId10" Type="http://schemas.openxmlformats.org/officeDocument/2006/relationships/hyperlink" Target="https://sc.edu/about/offices_and_divisions/undergraduate_research/funding_opportunities/our_funding/magellan-scholar-award/index.php" TargetMode="External"/><Relationship Id="rId13" Type="http://schemas.openxmlformats.org/officeDocument/2006/relationships/hyperlink" Target="https://sc.edu/about/offices_and_divisions/undergraduate_research/funding_opportunities/our_funding/conference-travel/index.php" TargetMode="External"/><Relationship Id="rId12" Type="http://schemas.openxmlformats.org/officeDocument/2006/relationships/hyperlink" Target="https://sc.edu/about/offices_and_divisions/undergraduate_research/funding_opportunities/our_funding/conference-travel/index.php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sc.edu/about/offices_and_divisions/undergraduate_research/funding_opportunities/our_funding/ug_cp_grants/index.php" TargetMode="External"/><Relationship Id="rId4" Type="http://schemas.openxmlformats.org/officeDocument/2006/relationships/hyperlink" Target="https://sc.edu/about/offices_and_divisions/undergraduate_research/funding_opportunities/our_funding/ug_cp_grants/index.php" TargetMode="External"/><Relationship Id="rId9" Type="http://schemas.openxmlformats.org/officeDocument/2006/relationships/hyperlink" Target="https://sc.edu/about/offices_and_divisions/undergraduate_research/funding_opportunities/our_funding/magellan-scholar-award/index.php" TargetMode="External"/><Relationship Id="rId15" Type="http://schemas.openxmlformats.org/officeDocument/2006/relationships/hyperlink" Target="https://sc.edu/about/offices_and_divisions/undergraduate_research/funding_opportunities/our_funding/palmetto_campuses/index.php" TargetMode="External"/><Relationship Id="rId14" Type="http://schemas.openxmlformats.org/officeDocument/2006/relationships/hyperlink" Target="https://sc.edu/about/offices_and_divisions/undergraduate_research/funding_opportunities/our_funding/trio-scholars/index.php" TargetMode="External"/><Relationship Id="rId5" Type="http://schemas.openxmlformats.org/officeDocument/2006/relationships/hyperlink" Target="https://sc.edu/about/offices_and_divisions/undergraduate_research/funding_opportunities/our_funding/mini-grants/index.php" TargetMode="External"/><Relationship Id="rId6" Type="http://schemas.openxmlformats.org/officeDocument/2006/relationships/hyperlink" Target="https://sc.edu/about/offices_and_divisions/undergraduate_research/funding_opportunities/our_funding/magellan-scholar-award/index.php" TargetMode="External"/><Relationship Id="rId7" Type="http://schemas.openxmlformats.org/officeDocument/2006/relationships/hyperlink" Target="https://sc.edu/about/offices_and_divisions/undergraduate_research/funding_opportunities/our_funding/magellan-scholar-award/index.php" TargetMode="External"/><Relationship Id="rId8" Type="http://schemas.openxmlformats.org/officeDocument/2006/relationships/hyperlink" Target="https://sc.edu/about/offices_and_divisions/undergraduate_research/funding_opportunities/our_funding/magellan-scholar-award/index.php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795151" y="1202850"/>
            <a:ext cx="7553700" cy="130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</a:t>
            </a:r>
            <a:r>
              <a:rPr lang="en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roject </a:t>
            </a:r>
            <a:r>
              <a:rPr lang="en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Caelus</a:t>
            </a:r>
            <a:r>
              <a:rPr lang="en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endParaRPr>
              <a:solidFill>
                <a:schemeClr val="lt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628850" y="2421925"/>
            <a:ext cx="5886300" cy="6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610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</a:t>
            </a:r>
            <a:r>
              <a:rPr lang="en" sz="2610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enter </a:t>
            </a:r>
            <a:r>
              <a:rPr lang="en" sz="2610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</a:t>
            </a:r>
            <a:r>
              <a:rPr lang="en" sz="2610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or </a:t>
            </a:r>
            <a:r>
              <a:rPr lang="en" sz="2610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</a:t>
            </a:r>
            <a:r>
              <a:rPr lang="en" sz="2610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ndustry </a:t>
            </a:r>
            <a:r>
              <a:rPr lang="en" sz="2610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</a:t>
            </a:r>
            <a:r>
              <a:rPr lang="en" sz="2610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olutions</a:t>
            </a:r>
            <a:endParaRPr sz="390">
              <a:solidFill>
                <a:schemeClr val="lt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495450" y="2832000"/>
            <a:ext cx="2153100" cy="6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510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2/8 </a:t>
            </a:r>
            <a:r>
              <a:rPr lang="en" sz="2510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B</a:t>
            </a:r>
            <a:r>
              <a:rPr lang="en" sz="2510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riefing</a:t>
            </a:r>
            <a:endParaRPr sz="290">
              <a:solidFill>
                <a:schemeClr val="lt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6718975" y="3050550"/>
            <a:ext cx="495000" cy="3657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 rot="10800000">
            <a:off x="7049733" y="2984315"/>
            <a:ext cx="495000" cy="3657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942850"/>
            <a:ext cx="6532200" cy="33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Atkinson Hyperlegible"/>
              <a:buChar char="●"/>
            </a:pPr>
            <a:r>
              <a:rPr lang="en" sz="2300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Confirm Project Name</a:t>
            </a:r>
            <a:endParaRPr sz="2300">
              <a:solidFill>
                <a:schemeClr val="lt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Atkinson Hyperlegible"/>
              <a:buChar char="●"/>
            </a:pPr>
            <a:r>
              <a:rPr lang="en" sz="2300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Current Status </a:t>
            </a:r>
            <a:endParaRPr sz="2300">
              <a:solidFill>
                <a:schemeClr val="lt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Atkinson Hyperlegible"/>
              <a:buChar char="●"/>
            </a:pPr>
            <a:r>
              <a:rPr lang="en" sz="2300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Areas of Concern </a:t>
            </a:r>
            <a:endParaRPr sz="2300">
              <a:solidFill>
                <a:schemeClr val="lt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Atkinson Hyperlegible"/>
              <a:buChar char="●"/>
            </a:pPr>
            <a:r>
              <a:rPr lang="en" sz="2300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Management</a:t>
            </a:r>
            <a:r>
              <a:rPr lang="en" sz="2300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endParaRPr sz="2300">
              <a:solidFill>
                <a:schemeClr val="lt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Atkinson Hyperlegible"/>
              <a:buChar char="●"/>
            </a:pPr>
            <a:r>
              <a:rPr lang="en" sz="2300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What’s Next</a:t>
            </a:r>
            <a:endParaRPr sz="2300">
              <a:solidFill>
                <a:schemeClr val="lt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Atkinson Hyperlegible"/>
              <a:buChar char="●"/>
            </a:pPr>
            <a:r>
              <a:rPr lang="en" sz="2300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Timeline</a:t>
            </a:r>
            <a:endParaRPr sz="2300">
              <a:solidFill>
                <a:schemeClr val="lt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Atkinson Hyperlegible"/>
              <a:buChar char="●"/>
            </a:pPr>
            <a:r>
              <a:rPr lang="en" sz="2300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Funding </a:t>
            </a:r>
            <a:endParaRPr sz="2300">
              <a:solidFill>
                <a:schemeClr val="lt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3631800" y="1567850"/>
            <a:ext cx="4811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originates from Roman mythology as the god of the sky and the heavens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21950" y="1418150"/>
            <a:ext cx="3902100" cy="13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Caelus?</a:t>
            </a:r>
            <a:endParaRPr sz="7200">
              <a:solidFill>
                <a:schemeClr val="lt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3819173" y="2096355"/>
            <a:ext cx="248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Pronounced: KAI-luhs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2946775" y="3562150"/>
            <a:ext cx="735600" cy="6759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575" lIns="55575" spcFirstLastPara="1" rIns="55575" wrap="square" tIns="55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chemeClr val="lt2"/>
              </a:solidFill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5210310" y="3562150"/>
            <a:ext cx="735600" cy="6759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575" lIns="55575" spcFirstLastPara="1" rIns="55575" wrap="square" tIns="55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chemeClr val="lt2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2117375" y="3669250"/>
            <a:ext cx="73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Yes?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6135325" y="3669250"/>
            <a:ext cx="73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No?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3027225" y="4735725"/>
            <a:ext cx="624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Areas of Concern </a:t>
            </a:r>
            <a:endParaRPr>
              <a:solidFill>
                <a:schemeClr val="lt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1277925" y="3489854"/>
            <a:ext cx="14358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Intelligence</a:t>
            </a:r>
            <a:endParaRPr sz="1800">
              <a:solidFill>
                <a:schemeClr val="lt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4017000" y="3528976"/>
            <a:ext cx="11100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Avionics </a:t>
            </a:r>
            <a:endParaRPr sz="1800">
              <a:solidFill>
                <a:schemeClr val="lt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6310450" y="3489851"/>
            <a:ext cx="15036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Dynamics</a:t>
            </a:r>
            <a:endParaRPr sz="1800">
              <a:solidFill>
                <a:schemeClr val="lt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6187" y="1713167"/>
            <a:ext cx="1928499" cy="1928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 rotWithShape="1">
          <a:blip r:embed="rId4">
            <a:alphaModFix/>
          </a:blip>
          <a:srcRect b="23242" l="0" r="-5174" t="0"/>
          <a:stretch/>
        </p:blipFill>
        <p:spPr>
          <a:xfrm>
            <a:off x="5949700" y="1637690"/>
            <a:ext cx="2225091" cy="16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1532" y="1591651"/>
            <a:ext cx="2148175" cy="214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2101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Management </a:t>
            </a:r>
            <a:r>
              <a:rPr lang="en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 </a:t>
            </a:r>
            <a:endParaRPr>
              <a:solidFill>
                <a:schemeClr val="lt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5782725" y="1278764"/>
            <a:ext cx="1590000" cy="670800"/>
          </a:xfrm>
          <a:prstGeom prst="rect">
            <a:avLst/>
          </a:prstGeom>
        </p:spPr>
        <p:txBody>
          <a:bodyPr anchorCtr="0" anchor="t" bIns="87650" lIns="87650" spcFirstLastPara="1" rIns="87650" wrap="square" tIns="876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151"/>
              </a:spcAft>
              <a:buNone/>
            </a:pPr>
            <a:r>
              <a:rPr lang="en" sz="1725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Intelligence</a:t>
            </a:r>
            <a:r>
              <a:rPr lang="en" sz="1725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endParaRPr sz="1725">
              <a:solidFill>
                <a:schemeClr val="lt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2900" y="491962"/>
            <a:ext cx="478825" cy="4788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>
            <p:ph type="title"/>
          </p:nvPr>
        </p:nvSpPr>
        <p:spPr>
          <a:xfrm>
            <a:off x="2274250" y="538900"/>
            <a:ext cx="28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220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x</a:t>
            </a:r>
            <a:endParaRPr sz="920">
              <a:solidFill>
                <a:schemeClr val="lt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2612100" y="445025"/>
            <a:ext cx="121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77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GitHub</a:t>
            </a:r>
            <a:r>
              <a:rPr lang="en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  </a:t>
            </a:r>
            <a:endParaRPr>
              <a:solidFill>
                <a:schemeClr val="lt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9995" y="1131300"/>
            <a:ext cx="832464" cy="818267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5782725" y="2285925"/>
            <a:ext cx="1590000" cy="670800"/>
          </a:xfrm>
          <a:prstGeom prst="rect">
            <a:avLst/>
          </a:prstGeom>
        </p:spPr>
        <p:txBody>
          <a:bodyPr anchorCtr="0" anchor="t" bIns="87650" lIns="87650" spcFirstLastPara="1" rIns="87650" wrap="square" tIns="876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151"/>
              </a:spcAft>
              <a:buNone/>
            </a:pPr>
            <a:r>
              <a:rPr lang="en" sz="1725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Dynamics</a:t>
            </a:r>
            <a:endParaRPr sz="1725">
              <a:solidFill>
                <a:schemeClr val="lt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5782725" y="3336065"/>
            <a:ext cx="1275000" cy="670800"/>
          </a:xfrm>
          <a:prstGeom prst="rect">
            <a:avLst/>
          </a:prstGeom>
        </p:spPr>
        <p:txBody>
          <a:bodyPr anchorCtr="0" anchor="t" bIns="87650" lIns="87650" spcFirstLastPara="1" rIns="87650" wrap="square" tIns="876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151"/>
              </a:spcAft>
              <a:buNone/>
            </a:pPr>
            <a:r>
              <a:rPr lang="en" sz="1725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Avionics </a:t>
            </a:r>
            <a:endParaRPr sz="1725">
              <a:solidFill>
                <a:schemeClr val="lt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9995" y="2130529"/>
            <a:ext cx="832465" cy="826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49997" y="3138175"/>
            <a:ext cx="798162" cy="786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09623" y="4131050"/>
            <a:ext cx="694625" cy="69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73875" y="3336075"/>
            <a:ext cx="496425" cy="49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/>
          <p:cNvPicPr preferRelativeResize="0"/>
          <p:nvPr/>
        </p:nvPicPr>
        <p:blipFill rotWithShape="1">
          <a:blip r:embed="rId9">
            <a:alphaModFix/>
          </a:blip>
          <a:srcRect b="23242" l="0" r="-5174" t="0"/>
          <a:stretch/>
        </p:blipFill>
        <p:spPr>
          <a:xfrm>
            <a:off x="5288448" y="2262550"/>
            <a:ext cx="581850" cy="42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309625" y="1270688"/>
            <a:ext cx="539500" cy="53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 txBox="1"/>
          <p:nvPr>
            <p:ph type="title"/>
          </p:nvPr>
        </p:nvSpPr>
        <p:spPr>
          <a:xfrm>
            <a:off x="5561025" y="538888"/>
            <a:ext cx="262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Project Boards </a:t>
            </a:r>
            <a:endParaRPr sz="2420">
              <a:solidFill>
                <a:schemeClr val="lt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6141813" y="4218250"/>
            <a:ext cx="20730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File Management </a:t>
            </a:r>
            <a:endParaRPr sz="1800">
              <a:solidFill>
                <a:schemeClr val="lt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pic>
        <p:nvPicPr>
          <p:cNvPr id="107" name="Google Shape;107;p1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99813" y="1239675"/>
            <a:ext cx="3834173" cy="16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99825" y="3224135"/>
            <a:ext cx="3834151" cy="1499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Current Status </a:t>
            </a:r>
            <a:endParaRPr>
              <a:solidFill>
                <a:schemeClr val="lt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565275" y="1114200"/>
            <a:ext cx="4302300" cy="3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tkinson Hyperlegible"/>
              <a:buChar char="●"/>
            </a:pPr>
            <a:r>
              <a:rPr lang="en">
                <a:latin typeface="Atkinson Hyperlegible"/>
                <a:ea typeface="Atkinson Hyperlegible"/>
                <a:cs typeface="Atkinson Hyperlegible"/>
                <a:sym typeface="Atkinson Hyperlegible"/>
              </a:rPr>
              <a:t>Project Management</a:t>
            </a:r>
            <a:endParaRPr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tkinson Hyperlegible"/>
              <a:buChar char="●"/>
            </a:pPr>
            <a:r>
              <a:rPr lang="en">
                <a:latin typeface="Atkinson Hyperlegible"/>
                <a:ea typeface="Atkinson Hyperlegible"/>
                <a:cs typeface="Atkinson Hyperlegible"/>
                <a:sym typeface="Atkinson Hyperlegible"/>
              </a:rPr>
              <a:t>stl files of electronics used</a:t>
            </a:r>
            <a:endParaRPr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tkinson Hyperlegible"/>
              <a:buChar char="○"/>
            </a:pPr>
            <a:r>
              <a:rPr lang="en" sz="1800">
                <a:latin typeface="Atkinson Hyperlegible"/>
                <a:ea typeface="Atkinson Hyperlegible"/>
                <a:cs typeface="Atkinson Hyperlegible"/>
                <a:sym typeface="Atkinson Hyperlegible"/>
              </a:rPr>
              <a:t>dynamics/avionic Parts</a:t>
            </a:r>
            <a:endParaRPr sz="1800"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tkinson Hyperlegible"/>
              <a:buChar char="●"/>
            </a:pPr>
            <a:r>
              <a:rPr lang="en">
                <a:latin typeface="Atkinson Hyperlegible"/>
                <a:ea typeface="Atkinson Hyperlegible"/>
                <a:cs typeface="Atkinson Hyperlegible"/>
                <a:sym typeface="Atkinson Hyperlegible"/>
              </a:rPr>
              <a:t>repo init </a:t>
            </a:r>
            <a:endParaRPr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Parts Ordered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4 Motors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4 Speed Controller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GPS Module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4 Propellers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Flight Controller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2x </a:t>
            </a:r>
            <a:r>
              <a:rPr lang="en"/>
              <a:t>5200mAh</a:t>
            </a:r>
            <a:r>
              <a:rPr lang="en"/>
              <a:t> LiPo Batteries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Additional Parts on Hand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1x 1kg PETG Black Filament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1x 1kg PETG White Filament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4x NEMA Stepper Motors </a:t>
            </a:r>
            <a:endParaRPr/>
          </a:p>
        </p:txBody>
      </p:sp>
      <p:pic>
        <p:nvPicPr>
          <p:cNvPr id="115" name="Google Shape;115;p18" title="Screenshot 2026-02-03 at 11.09.3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8900" y="898925"/>
            <a:ext cx="2818950" cy="368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1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1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1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11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11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11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11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11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114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114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What’s Next </a:t>
            </a:r>
            <a:endParaRPr>
              <a:solidFill>
                <a:schemeClr val="lt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grpSp>
        <p:nvGrpSpPr>
          <p:cNvPr id="121" name="Google Shape;121;p19"/>
          <p:cNvGrpSpPr/>
          <p:nvPr/>
        </p:nvGrpSpPr>
        <p:grpSpPr>
          <a:xfrm>
            <a:off x="429748" y="3987255"/>
            <a:ext cx="5157434" cy="696900"/>
            <a:chOff x="429748" y="3987255"/>
            <a:chExt cx="5157434" cy="696900"/>
          </a:xfrm>
        </p:grpSpPr>
        <p:sp>
          <p:nvSpPr>
            <p:cNvPr id="122" name="Google Shape;122;p19"/>
            <p:cNvSpPr txBox="1"/>
            <p:nvPr/>
          </p:nvSpPr>
          <p:spPr>
            <a:xfrm>
              <a:off x="975582" y="3987255"/>
              <a:ext cx="4611600" cy="69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5875" lIns="125875" spcFirstLastPara="1" rIns="125875" wrap="square" tIns="125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78">
                  <a:solidFill>
                    <a:schemeClr val="lt1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/src system design </a:t>
              </a:r>
              <a:r>
                <a:rPr lang="en" sz="2478">
                  <a:solidFill>
                    <a:schemeClr val="lt1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 </a:t>
              </a:r>
              <a:endParaRPr sz="2478">
                <a:solidFill>
                  <a:schemeClr val="lt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endParaRPr>
            </a:p>
          </p:txBody>
        </p:sp>
        <p:pic>
          <p:nvPicPr>
            <p:cNvPr id="123" name="Google Shape;123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29748" y="4038056"/>
              <a:ext cx="627540" cy="6275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4" name="Google Shape;124;p19"/>
          <p:cNvGrpSpPr/>
          <p:nvPr/>
        </p:nvGrpSpPr>
        <p:grpSpPr>
          <a:xfrm>
            <a:off x="389651" y="3069864"/>
            <a:ext cx="3052831" cy="696901"/>
            <a:chOff x="389651" y="3069864"/>
            <a:chExt cx="3052831" cy="696901"/>
          </a:xfrm>
        </p:grpSpPr>
        <p:sp>
          <p:nvSpPr>
            <p:cNvPr id="125" name="Google Shape;125;p19"/>
            <p:cNvSpPr txBox="1"/>
            <p:nvPr/>
          </p:nvSpPr>
          <p:spPr>
            <a:xfrm>
              <a:off x="975582" y="3069865"/>
              <a:ext cx="2466900" cy="69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5875" lIns="125875" spcFirstLastPara="1" rIns="125875" wrap="square" tIns="125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78">
                  <a:solidFill>
                    <a:schemeClr val="lt1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Design Drone </a:t>
              </a:r>
              <a:endParaRPr sz="2478">
                <a:solidFill>
                  <a:schemeClr val="lt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endParaRPr>
            </a:p>
          </p:txBody>
        </p:sp>
        <p:pic>
          <p:nvPicPr>
            <p:cNvPr id="126" name="Google Shape;126;p19"/>
            <p:cNvPicPr preferRelativeResize="0"/>
            <p:nvPr/>
          </p:nvPicPr>
          <p:blipFill rotWithShape="1">
            <a:blip r:embed="rId4">
              <a:alphaModFix/>
            </a:blip>
            <a:srcRect b="23242" l="0" r="-5174" t="0"/>
            <a:stretch/>
          </p:blipFill>
          <p:spPr>
            <a:xfrm>
              <a:off x="389651" y="3069864"/>
              <a:ext cx="707740" cy="51650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" name="Google Shape;127;p19"/>
          <p:cNvGrpSpPr/>
          <p:nvPr/>
        </p:nvGrpSpPr>
        <p:grpSpPr>
          <a:xfrm>
            <a:off x="429760" y="1102250"/>
            <a:ext cx="4122722" cy="696900"/>
            <a:chOff x="429760" y="1102250"/>
            <a:chExt cx="4122722" cy="696900"/>
          </a:xfrm>
        </p:grpSpPr>
        <p:sp>
          <p:nvSpPr>
            <p:cNvPr id="128" name="Google Shape;128;p19"/>
            <p:cNvSpPr txBox="1"/>
            <p:nvPr/>
          </p:nvSpPr>
          <p:spPr>
            <a:xfrm>
              <a:off x="975582" y="1102250"/>
              <a:ext cx="3576900" cy="69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5875" lIns="125875" spcFirstLastPara="1" rIns="125875" wrap="square" tIns="125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78">
                  <a:solidFill>
                    <a:schemeClr val="lt1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Electronics Planning</a:t>
              </a:r>
              <a:endParaRPr sz="2478">
                <a:solidFill>
                  <a:schemeClr val="lt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endParaRPr>
            </a:p>
          </p:txBody>
        </p:sp>
        <p:pic>
          <p:nvPicPr>
            <p:cNvPr id="129" name="Google Shape;129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29760" y="1136848"/>
              <a:ext cx="627540" cy="6275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" name="Google Shape;130;p19"/>
          <p:cNvGrpSpPr/>
          <p:nvPr/>
        </p:nvGrpSpPr>
        <p:grpSpPr>
          <a:xfrm>
            <a:off x="389650" y="2019637"/>
            <a:ext cx="4162832" cy="768527"/>
            <a:chOff x="389650" y="2019637"/>
            <a:chExt cx="4162832" cy="768527"/>
          </a:xfrm>
        </p:grpSpPr>
        <p:sp>
          <p:nvSpPr>
            <p:cNvPr id="131" name="Google Shape;131;p19"/>
            <p:cNvSpPr txBox="1"/>
            <p:nvPr/>
          </p:nvSpPr>
          <p:spPr>
            <a:xfrm>
              <a:off x="975582" y="2091263"/>
              <a:ext cx="3576900" cy="69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5875" lIns="125875" spcFirstLastPara="1" rIns="125875" wrap="square" tIns="125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78">
                  <a:solidFill>
                    <a:schemeClr val="lt1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Design Docking Station </a:t>
              </a:r>
              <a:endParaRPr sz="2478">
                <a:solidFill>
                  <a:schemeClr val="lt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endParaRPr>
            </a:p>
          </p:txBody>
        </p:sp>
        <p:pic>
          <p:nvPicPr>
            <p:cNvPr id="132" name="Google Shape;132;p1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89650" y="2019637"/>
              <a:ext cx="707738" cy="70770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3" name="Google Shape;133;p19"/>
          <p:cNvGrpSpPr/>
          <p:nvPr/>
        </p:nvGrpSpPr>
        <p:grpSpPr>
          <a:xfrm>
            <a:off x="3102225" y="1441250"/>
            <a:ext cx="5627950" cy="2917850"/>
            <a:chOff x="3102225" y="1441250"/>
            <a:chExt cx="5627950" cy="2917850"/>
          </a:xfrm>
        </p:grpSpPr>
        <p:grpSp>
          <p:nvGrpSpPr>
            <p:cNvPr id="134" name="Google Shape;134;p19"/>
            <p:cNvGrpSpPr/>
            <p:nvPr/>
          </p:nvGrpSpPr>
          <p:grpSpPr>
            <a:xfrm>
              <a:off x="3102225" y="1441250"/>
              <a:ext cx="5456400" cy="2917850"/>
              <a:chOff x="3102225" y="1441250"/>
              <a:chExt cx="5456400" cy="2917850"/>
            </a:xfrm>
          </p:grpSpPr>
          <p:cxnSp>
            <p:nvCxnSpPr>
              <p:cNvPr id="135" name="Google Shape;135;p19"/>
              <p:cNvCxnSpPr/>
              <p:nvPr/>
            </p:nvCxnSpPr>
            <p:spPr>
              <a:xfrm>
                <a:off x="3996650" y="1441250"/>
                <a:ext cx="2127000" cy="1037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" name="Google Shape;136;p19"/>
              <p:cNvCxnSpPr/>
              <p:nvPr/>
            </p:nvCxnSpPr>
            <p:spPr>
              <a:xfrm rot="10800000">
                <a:off x="4423782" y="2445713"/>
                <a:ext cx="1674900" cy="28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" name="Google Shape;137;p19"/>
              <p:cNvCxnSpPr/>
              <p:nvPr/>
            </p:nvCxnSpPr>
            <p:spPr>
              <a:xfrm flipH="1">
                <a:off x="3102225" y="2488725"/>
                <a:ext cx="2986500" cy="93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" name="Google Shape;138;p19"/>
              <p:cNvCxnSpPr/>
              <p:nvPr/>
            </p:nvCxnSpPr>
            <p:spPr>
              <a:xfrm flipH="1">
                <a:off x="3806600" y="2493700"/>
                <a:ext cx="2272200" cy="1865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9" name="Google Shape;139;p19"/>
              <p:cNvSpPr/>
              <p:nvPr/>
            </p:nvSpPr>
            <p:spPr>
              <a:xfrm>
                <a:off x="5996225" y="2400500"/>
                <a:ext cx="138900" cy="137700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19"/>
              <p:cNvSpPr txBox="1"/>
              <p:nvPr/>
            </p:nvSpPr>
            <p:spPr>
              <a:xfrm>
                <a:off x="6203925" y="2231800"/>
                <a:ext cx="2354700" cy="60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chemeClr val="dk2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rPr>
                  <a:t>a</a:t>
                </a:r>
                <a:r>
                  <a:rPr lang="en" sz="1800">
                    <a:solidFill>
                      <a:schemeClr val="dk2"/>
                    </a:solidFill>
                    <a:latin typeface="Atkinson Hyperlegible"/>
                    <a:ea typeface="Atkinson Hyperlegible"/>
                    <a:cs typeface="Atkinson Hyperlegible"/>
                    <a:sym typeface="Atkinson Hyperlegible"/>
                  </a:rPr>
                  <a:t>ll interconnected.</a:t>
                </a:r>
                <a:endParaRPr sz="1800">
                  <a:solidFill>
                    <a:schemeClr val="dk2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endParaRPr>
              </a:p>
            </p:txBody>
          </p:sp>
        </p:grpSp>
        <p:sp>
          <p:nvSpPr>
            <p:cNvPr id="141" name="Google Shape;141;p19"/>
            <p:cNvSpPr txBox="1"/>
            <p:nvPr/>
          </p:nvSpPr>
          <p:spPr>
            <a:xfrm>
              <a:off x="6483775" y="2493700"/>
              <a:ext cx="2246400" cy="110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2"/>
                  </a:solidFill>
                </a:rPr>
                <a:t>No siloed work. </a:t>
              </a:r>
              <a:endParaRPr sz="1600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Timeline</a:t>
            </a:r>
            <a:r>
              <a:rPr lang="en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endParaRPr>
              <a:solidFill>
                <a:schemeClr val="lt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cxnSp>
        <p:nvCxnSpPr>
          <p:cNvPr id="147" name="Google Shape;147;p20"/>
          <p:cNvCxnSpPr/>
          <p:nvPr/>
        </p:nvCxnSpPr>
        <p:spPr>
          <a:xfrm>
            <a:off x="0" y="3559547"/>
            <a:ext cx="8878800" cy="27300"/>
          </a:xfrm>
          <a:prstGeom prst="straightConnector1">
            <a:avLst/>
          </a:prstGeom>
          <a:noFill/>
          <a:ln cap="flat" cmpd="sng" w="40375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  <p:grpSp>
        <p:nvGrpSpPr>
          <p:cNvPr id="148" name="Google Shape;148;p20"/>
          <p:cNvGrpSpPr/>
          <p:nvPr/>
        </p:nvGrpSpPr>
        <p:grpSpPr>
          <a:xfrm>
            <a:off x="330402" y="2127267"/>
            <a:ext cx="1155930" cy="1549720"/>
            <a:chOff x="311700" y="2092725"/>
            <a:chExt cx="1090500" cy="1462000"/>
          </a:xfrm>
        </p:grpSpPr>
        <p:sp>
          <p:nvSpPr>
            <p:cNvPr id="149" name="Google Shape;149;p20"/>
            <p:cNvSpPr/>
            <p:nvPr/>
          </p:nvSpPr>
          <p:spPr>
            <a:xfrm>
              <a:off x="311700" y="2131225"/>
              <a:ext cx="1090500" cy="1116000"/>
            </a:xfrm>
            <a:prstGeom prst="snip1Rect">
              <a:avLst>
                <a:gd fmla="val 16667" name="adj"/>
              </a:avLst>
            </a:prstGeom>
            <a:noFill/>
            <a:ln cap="flat" cmpd="sng" w="22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675" lIns="71675" spcFirstLastPara="1" rIns="71675" wrap="square" tIns="71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8"/>
            </a:p>
          </p:txBody>
        </p:sp>
        <p:sp>
          <p:nvSpPr>
            <p:cNvPr id="150" name="Google Shape;150;p20"/>
            <p:cNvSpPr txBox="1"/>
            <p:nvPr/>
          </p:nvSpPr>
          <p:spPr>
            <a:xfrm>
              <a:off x="311700" y="2092725"/>
              <a:ext cx="915600" cy="9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6900" lIns="96900" spcFirstLastPara="1" rIns="96900" wrap="square" tIns="96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84">
                  <a:solidFill>
                    <a:schemeClr val="lt1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looks like a drone</a:t>
              </a:r>
              <a:endParaRPr sz="1484">
                <a:solidFill>
                  <a:schemeClr val="lt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endParaRPr>
            </a:p>
          </p:txBody>
        </p:sp>
        <p:sp>
          <p:nvSpPr>
            <p:cNvPr id="151" name="Google Shape;151;p20"/>
            <p:cNvSpPr/>
            <p:nvPr/>
          </p:nvSpPr>
          <p:spPr>
            <a:xfrm>
              <a:off x="391475" y="2717125"/>
              <a:ext cx="915600" cy="439200"/>
            </a:xfrm>
            <a:prstGeom prst="round1Rect">
              <a:avLst>
                <a:gd fmla="val 16667" name="adj"/>
              </a:avLst>
            </a:prstGeom>
            <a:noFill/>
            <a:ln cap="flat" cmpd="sng" w="10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6900" lIns="96900" spcFirstLastPara="1" rIns="96900" wrap="square" tIns="96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84"/>
            </a:p>
          </p:txBody>
        </p:sp>
        <p:sp>
          <p:nvSpPr>
            <p:cNvPr id="152" name="Google Shape;152;p20"/>
            <p:cNvSpPr txBox="1"/>
            <p:nvPr/>
          </p:nvSpPr>
          <p:spPr>
            <a:xfrm>
              <a:off x="331800" y="2620825"/>
              <a:ext cx="915600" cy="9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6900" lIns="96900" spcFirstLastPara="1" rIns="96900" wrap="square" tIns="96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66">
                  <a:solidFill>
                    <a:schemeClr val="lt1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date:</a:t>
              </a:r>
              <a:endParaRPr sz="1166">
                <a:solidFill>
                  <a:schemeClr val="lt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endParaRPr>
            </a:p>
          </p:txBody>
        </p:sp>
        <p:cxnSp>
          <p:nvCxnSpPr>
            <p:cNvPr id="153" name="Google Shape;153;p20"/>
            <p:cNvCxnSpPr/>
            <p:nvPr/>
          </p:nvCxnSpPr>
          <p:spPr>
            <a:xfrm>
              <a:off x="838925" y="3255200"/>
              <a:ext cx="0" cy="110400"/>
            </a:xfrm>
            <a:prstGeom prst="straightConnector1">
              <a:avLst/>
            </a:prstGeom>
            <a:noFill/>
            <a:ln cap="flat" cmpd="sng" w="1211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4" name="Google Shape;154;p20"/>
          <p:cNvGrpSpPr/>
          <p:nvPr/>
        </p:nvGrpSpPr>
        <p:grpSpPr>
          <a:xfrm>
            <a:off x="1952096" y="2127267"/>
            <a:ext cx="1202473" cy="1549720"/>
            <a:chOff x="1841600" y="2092725"/>
            <a:chExt cx="1134408" cy="1462000"/>
          </a:xfrm>
        </p:grpSpPr>
        <p:sp>
          <p:nvSpPr>
            <p:cNvPr id="155" name="Google Shape;155;p20"/>
            <p:cNvSpPr txBox="1"/>
            <p:nvPr/>
          </p:nvSpPr>
          <p:spPr>
            <a:xfrm>
              <a:off x="1841600" y="2092725"/>
              <a:ext cx="915600" cy="9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6900" lIns="96900" spcFirstLastPara="1" rIns="96900" wrap="square" tIns="96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84">
                  <a:solidFill>
                    <a:schemeClr val="lt1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flies like a drone</a:t>
              </a:r>
              <a:endParaRPr sz="1484">
                <a:solidFill>
                  <a:schemeClr val="lt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endParaRPr>
            </a:p>
          </p:txBody>
        </p:sp>
        <p:sp>
          <p:nvSpPr>
            <p:cNvPr id="156" name="Google Shape;156;p20"/>
            <p:cNvSpPr/>
            <p:nvPr/>
          </p:nvSpPr>
          <p:spPr>
            <a:xfrm>
              <a:off x="1885508" y="2131225"/>
              <a:ext cx="1090500" cy="1116000"/>
            </a:xfrm>
            <a:prstGeom prst="snip1Rect">
              <a:avLst>
                <a:gd fmla="val 16667" name="adj"/>
              </a:avLst>
            </a:prstGeom>
            <a:noFill/>
            <a:ln cap="flat" cmpd="sng" w="22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675" lIns="71675" spcFirstLastPara="1" rIns="71675" wrap="square" tIns="71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8">
                <a:solidFill>
                  <a:schemeClr val="lt1"/>
                </a:solidFill>
              </a:endParaRPr>
            </a:p>
          </p:txBody>
        </p:sp>
        <p:sp>
          <p:nvSpPr>
            <p:cNvPr id="157" name="Google Shape;157;p20"/>
            <p:cNvSpPr/>
            <p:nvPr/>
          </p:nvSpPr>
          <p:spPr>
            <a:xfrm>
              <a:off x="1965283" y="2717125"/>
              <a:ext cx="915600" cy="439200"/>
            </a:xfrm>
            <a:prstGeom prst="round1Rect">
              <a:avLst>
                <a:gd fmla="val 16667" name="adj"/>
              </a:avLst>
            </a:prstGeom>
            <a:noFill/>
            <a:ln cap="flat" cmpd="sng" w="10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6900" lIns="96900" spcFirstLastPara="1" rIns="96900" wrap="square" tIns="96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84"/>
            </a:p>
          </p:txBody>
        </p:sp>
        <p:sp>
          <p:nvSpPr>
            <p:cNvPr id="158" name="Google Shape;158;p20"/>
            <p:cNvSpPr txBox="1"/>
            <p:nvPr/>
          </p:nvSpPr>
          <p:spPr>
            <a:xfrm>
              <a:off x="1905608" y="2620825"/>
              <a:ext cx="915600" cy="9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6900" lIns="96900" spcFirstLastPara="1" rIns="96900" wrap="square" tIns="96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66">
                  <a:solidFill>
                    <a:schemeClr val="lt1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date:</a:t>
              </a:r>
              <a:endParaRPr sz="1166">
                <a:solidFill>
                  <a:schemeClr val="lt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endParaRPr>
            </a:p>
          </p:txBody>
        </p:sp>
        <p:cxnSp>
          <p:nvCxnSpPr>
            <p:cNvPr id="159" name="Google Shape;159;p20"/>
            <p:cNvCxnSpPr/>
            <p:nvPr/>
          </p:nvCxnSpPr>
          <p:spPr>
            <a:xfrm>
              <a:off x="2412733" y="3255200"/>
              <a:ext cx="0" cy="110400"/>
            </a:xfrm>
            <a:prstGeom prst="straightConnector1">
              <a:avLst/>
            </a:prstGeom>
            <a:noFill/>
            <a:ln cap="flat" cmpd="sng" w="1211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0" name="Google Shape;160;p20"/>
          <p:cNvGrpSpPr/>
          <p:nvPr/>
        </p:nvGrpSpPr>
        <p:grpSpPr>
          <a:xfrm>
            <a:off x="3648308" y="2094566"/>
            <a:ext cx="1205016" cy="1582421"/>
            <a:chOff x="3441800" y="2061875"/>
            <a:chExt cx="1136808" cy="1492850"/>
          </a:xfrm>
        </p:grpSpPr>
        <p:sp>
          <p:nvSpPr>
            <p:cNvPr id="161" name="Google Shape;161;p20"/>
            <p:cNvSpPr txBox="1"/>
            <p:nvPr/>
          </p:nvSpPr>
          <p:spPr>
            <a:xfrm>
              <a:off x="3441800" y="2061875"/>
              <a:ext cx="1090500" cy="9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6900" lIns="96900" spcFirstLastPara="1" rIns="96900" wrap="square" tIns="96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84">
                  <a:solidFill>
                    <a:schemeClr val="lt1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is a smart drone</a:t>
              </a:r>
              <a:endParaRPr sz="1484">
                <a:solidFill>
                  <a:schemeClr val="lt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endParaRPr>
            </a:p>
          </p:txBody>
        </p:sp>
        <p:sp>
          <p:nvSpPr>
            <p:cNvPr id="162" name="Google Shape;162;p20"/>
            <p:cNvSpPr/>
            <p:nvPr/>
          </p:nvSpPr>
          <p:spPr>
            <a:xfrm>
              <a:off x="3488108" y="2131225"/>
              <a:ext cx="1090500" cy="1116000"/>
            </a:xfrm>
            <a:prstGeom prst="snip1Rect">
              <a:avLst>
                <a:gd fmla="val 16667" name="adj"/>
              </a:avLst>
            </a:prstGeom>
            <a:noFill/>
            <a:ln cap="flat" cmpd="sng" w="22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675" lIns="71675" spcFirstLastPara="1" rIns="71675" wrap="square" tIns="71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8">
                <a:solidFill>
                  <a:schemeClr val="lt1"/>
                </a:solidFill>
              </a:endParaRPr>
            </a:p>
          </p:txBody>
        </p:sp>
        <p:sp>
          <p:nvSpPr>
            <p:cNvPr id="163" name="Google Shape;163;p20"/>
            <p:cNvSpPr/>
            <p:nvPr/>
          </p:nvSpPr>
          <p:spPr>
            <a:xfrm>
              <a:off x="3567883" y="2717125"/>
              <a:ext cx="915600" cy="439200"/>
            </a:xfrm>
            <a:prstGeom prst="round1Rect">
              <a:avLst>
                <a:gd fmla="val 16667" name="adj"/>
              </a:avLst>
            </a:prstGeom>
            <a:noFill/>
            <a:ln cap="flat" cmpd="sng" w="10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6900" lIns="96900" spcFirstLastPara="1" rIns="96900" wrap="square" tIns="96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84"/>
            </a:p>
          </p:txBody>
        </p:sp>
        <p:sp>
          <p:nvSpPr>
            <p:cNvPr id="164" name="Google Shape;164;p20"/>
            <p:cNvSpPr txBox="1"/>
            <p:nvPr/>
          </p:nvSpPr>
          <p:spPr>
            <a:xfrm>
              <a:off x="3508208" y="2620825"/>
              <a:ext cx="915600" cy="9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6900" lIns="96900" spcFirstLastPara="1" rIns="96900" wrap="square" tIns="96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66">
                  <a:solidFill>
                    <a:schemeClr val="lt1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date:</a:t>
              </a:r>
              <a:endParaRPr sz="1166">
                <a:solidFill>
                  <a:schemeClr val="lt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endParaRPr>
            </a:p>
          </p:txBody>
        </p:sp>
        <p:cxnSp>
          <p:nvCxnSpPr>
            <p:cNvPr id="165" name="Google Shape;165;p20"/>
            <p:cNvCxnSpPr/>
            <p:nvPr/>
          </p:nvCxnSpPr>
          <p:spPr>
            <a:xfrm>
              <a:off x="4015333" y="3255200"/>
              <a:ext cx="0" cy="110400"/>
            </a:xfrm>
            <a:prstGeom prst="straightConnector1">
              <a:avLst/>
            </a:prstGeom>
            <a:noFill/>
            <a:ln cap="flat" cmpd="sng" w="1211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6" name="Google Shape;166;p20"/>
          <p:cNvGrpSpPr/>
          <p:nvPr/>
        </p:nvGrpSpPr>
        <p:grpSpPr>
          <a:xfrm>
            <a:off x="5294859" y="2094566"/>
            <a:ext cx="1199337" cy="1582421"/>
            <a:chOff x="4995150" y="2061875"/>
            <a:chExt cx="1131450" cy="1492850"/>
          </a:xfrm>
        </p:grpSpPr>
        <p:sp>
          <p:nvSpPr>
            <p:cNvPr id="167" name="Google Shape;167;p20"/>
            <p:cNvSpPr txBox="1"/>
            <p:nvPr/>
          </p:nvSpPr>
          <p:spPr>
            <a:xfrm>
              <a:off x="4995150" y="2061875"/>
              <a:ext cx="1090500" cy="9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6900" lIns="96900" spcFirstLastPara="1" rIns="96900" wrap="square" tIns="96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84">
                  <a:solidFill>
                    <a:schemeClr val="lt1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can dock and charge</a:t>
              </a:r>
              <a:endParaRPr sz="1484">
                <a:solidFill>
                  <a:schemeClr val="lt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endParaRPr>
            </a:p>
          </p:txBody>
        </p:sp>
        <p:sp>
          <p:nvSpPr>
            <p:cNvPr id="168" name="Google Shape;168;p20"/>
            <p:cNvSpPr/>
            <p:nvPr/>
          </p:nvSpPr>
          <p:spPr>
            <a:xfrm>
              <a:off x="5036100" y="2131225"/>
              <a:ext cx="1090500" cy="1116000"/>
            </a:xfrm>
            <a:prstGeom prst="snip1Rect">
              <a:avLst>
                <a:gd fmla="val 16667" name="adj"/>
              </a:avLst>
            </a:prstGeom>
            <a:noFill/>
            <a:ln cap="flat" cmpd="sng" w="22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675" lIns="71675" spcFirstLastPara="1" rIns="71675" wrap="square" tIns="71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8"/>
            </a:p>
          </p:txBody>
        </p:sp>
        <p:sp>
          <p:nvSpPr>
            <p:cNvPr id="169" name="Google Shape;169;p20"/>
            <p:cNvSpPr/>
            <p:nvPr/>
          </p:nvSpPr>
          <p:spPr>
            <a:xfrm>
              <a:off x="5115875" y="2717125"/>
              <a:ext cx="915600" cy="439200"/>
            </a:xfrm>
            <a:prstGeom prst="round1Rect">
              <a:avLst>
                <a:gd fmla="val 16667" name="adj"/>
              </a:avLst>
            </a:prstGeom>
            <a:noFill/>
            <a:ln cap="flat" cmpd="sng" w="10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6900" lIns="96900" spcFirstLastPara="1" rIns="96900" wrap="square" tIns="96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84"/>
            </a:p>
          </p:txBody>
        </p:sp>
        <p:sp>
          <p:nvSpPr>
            <p:cNvPr id="170" name="Google Shape;170;p20"/>
            <p:cNvSpPr txBox="1"/>
            <p:nvPr/>
          </p:nvSpPr>
          <p:spPr>
            <a:xfrm>
              <a:off x="5056200" y="2620825"/>
              <a:ext cx="915600" cy="9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6900" lIns="96900" spcFirstLastPara="1" rIns="96900" wrap="square" tIns="96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66">
                  <a:solidFill>
                    <a:schemeClr val="lt1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date</a:t>
              </a:r>
              <a:r>
                <a:rPr lang="en" sz="1166">
                  <a:solidFill>
                    <a:schemeClr val="dk2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:</a:t>
              </a:r>
              <a:endParaRPr sz="1166">
                <a:solidFill>
                  <a:schemeClr val="dk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endParaRPr>
            </a:p>
          </p:txBody>
        </p:sp>
        <p:cxnSp>
          <p:nvCxnSpPr>
            <p:cNvPr id="171" name="Google Shape;171;p20"/>
            <p:cNvCxnSpPr/>
            <p:nvPr/>
          </p:nvCxnSpPr>
          <p:spPr>
            <a:xfrm>
              <a:off x="5563325" y="3255200"/>
              <a:ext cx="0" cy="110400"/>
            </a:xfrm>
            <a:prstGeom prst="straightConnector1">
              <a:avLst/>
            </a:prstGeom>
            <a:noFill/>
            <a:ln cap="flat" cmpd="sng" w="1211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2" name="Google Shape;172;p20"/>
          <p:cNvGrpSpPr/>
          <p:nvPr/>
        </p:nvGrpSpPr>
        <p:grpSpPr>
          <a:xfrm>
            <a:off x="6986460" y="2094566"/>
            <a:ext cx="1211578" cy="1582421"/>
            <a:chOff x="6591000" y="2061875"/>
            <a:chExt cx="1142998" cy="1492850"/>
          </a:xfrm>
        </p:grpSpPr>
        <p:sp>
          <p:nvSpPr>
            <p:cNvPr id="173" name="Google Shape;173;p20"/>
            <p:cNvSpPr txBox="1"/>
            <p:nvPr/>
          </p:nvSpPr>
          <p:spPr>
            <a:xfrm>
              <a:off x="6591000" y="2061875"/>
              <a:ext cx="915600" cy="9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6900" lIns="96900" spcFirstLastPara="1" rIns="96900" wrap="square" tIns="96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84">
                  <a:solidFill>
                    <a:schemeClr val="lt1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is done</a:t>
              </a:r>
              <a:endParaRPr sz="1484">
                <a:solidFill>
                  <a:schemeClr val="lt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endParaRPr>
            </a:p>
          </p:txBody>
        </p:sp>
        <p:sp>
          <p:nvSpPr>
            <p:cNvPr id="174" name="Google Shape;174;p20"/>
            <p:cNvSpPr/>
            <p:nvPr/>
          </p:nvSpPr>
          <p:spPr>
            <a:xfrm>
              <a:off x="6643498" y="2131225"/>
              <a:ext cx="1090500" cy="1116000"/>
            </a:xfrm>
            <a:prstGeom prst="snip1Rect">
              <a:avLst>
                <a:gd fmla="val 16667" name="adj"/>
              </a:avLst>
            </a:prstGeom>
            <a:noFill/>
            <a:ln cap="flat" cmpd="sng" w="22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675" lIns="71675" spcFirstLastPara="1" rIns="71675" wrap="square" tIns="71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8"/>
            </a:p>
          </p:txBody>
        </p:sp>
        <p:sp>
          <p:nvSpPr>
            <p:cNvPr id="175" name="Google Shape;175;p20"/>
            <p:cNvSpPr/>
            <p:nvPr/>
          </p:nvSpPr>
          <p:spPr>
            <a:xfrm>
              <a:off x="6723273" y="2717125"/>
              <a:ext cx="915600" cy="439200"/>
            </a:xfrm>
            <a:prstGeom prst="round1Rect">
              <a:avLst>
                <a:gd fmla="val 16667" name="adj"/>
              </a:avLst>
            </a:prstGeom>
            <a:noFill/>
            <a:ln cap="flat" cmpd="sng" w="10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6900" lIns="96900" spcFirstLastPara="1" rIns="96900" wrap="square" tIns="96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84"/>
            </a:p>
          </p:txBody>
        </p:sp>
        <p:sp>
          <p:nvSpPr>
            <p:cNvPr id="176" name="Google Shape;176;p20"/>
            <p:cNvSpPr txBox="1"/>
            <p:nvPr/>
          </p:nvSpPr>
          <p:spPr>
            <a:xfrm>
              <a:off x="6663598" y="2620825"/>
              <a:ext cx="915600" cy="9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6900" lIns="96900" spcFirstLastPara="1" rIns="96900" wrap="square" tIns="96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66">
                  <a:solidFill>
                    <a:schemeClr val="lt1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D</a:t>
              </a:r>
              <a:r>
                <a:rPr lang="en" sz="1166">
                  <a:solidFill>
                    <a:schemeClr val="lt1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ate: apr25</a:t>
              </a:r>
              <a:endParaRPr sz="1166">
                <a:solidFill>
                  <a:schemeClr val="lt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endParaRPr>
            </a:p>
          </p:txBody>
        </p:sp>
        <p:cxnSp>
          <p:nvCxnSpPr>
            <p:cNvPr id="177" name="Google Shape;177;p20"/>
            <p:cNvCxnSpPr/>
            <p:nvPr/>
          </p:nvCxnSpPr>
          <p:spPr>
            <a:xfrm>
              <a:off x="7170723" y="3255200"/>
              <a:ext cx="0" cy="110400"/>
            </a:xfrm>
            <a:prstGeom prst="straightConnector1">
              <a:avLst/>
            </a:prstGeom>
            <a:noFill/>
            <a:ln cap="flat" cmpd="sng" w="1211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8" name="Google Shape;178;p20"/>
          <p:cNvSpPr txBox="1"/>
          <p:nvPr/>
        </p:nvSpPr>
        <p:spPr>
          <a:xfrm>
            <a:off x="3145070" y="1516575"/>
            <a:ext cx="2456700" cy="7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6900" lIns="96900" spcFirstLastPara="1" rIns="96900" wrap="square" tIns="9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908">
                <a:solidFill>
                  <a:schemeClr val="lt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*Estimated Dates*</a:t>
            </a:r>
            <a:endParaRPr i="1" sz="1908">
              <a:solidFill>
                <a:schemeClr val="lt1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Funding </a:t>
            </a:r>
            <a:r>
              <a:rPr lang="en">
                <a:solidFill>
                  <a:schemeClr val="lt2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endParaRPr>
              <a:solidFill>
                <a:schemeClr val="lt2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184" name="Google Shape;184;p21"/>
          <p:cNvSpPr txBox="1"/>
          <p:nvPr>
            <p:ph idx="1" type="body"/>
          </p:nvPr>
        </p:nvSpPr>
        <p:spPr>
          <a:xfrm>
            <a:off x="239825" y="9907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tkinson Hyperlegible"/>
              <a:buChar char="●"/>
            </a:pPr>
            <a:r>
              <a:rPr lang="en">
                <a:solidFill>
                  <a:schemeClr val="lt1"/>
                </a:solidFill>
                <a:uFill>
                  <a:noFill/>
                </a:uFill>
                <a:latin typeface="Atkinson Hyperlegible"/>
                <a:ea typeface="Atkinson Hyperlegible"/>
                <a:cs typeface="Atkinson Hyperlegible"/>
                <a:sym typeface="Atkinson Hyperlegibl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Campus Partner Grant</a:t>
            </a:r>
            <a:r>
              <a:rPr lang="en">
                <a:solidFill>
                  <a:schemeClr val="hlink"/>
                </a:solidFill>
                <a:uFill>
                  <a:noFill/>
                </a:uFill>
                <a:latin typeface="Atkinson Hyperlegible"/>
                <a:ea typeface="Atkinson Hyperlegible"/>
                <a:cs typeface="Atkinson Hyperlegible"/>
                <a:sym typeface="Atkinson Hyperlegible"/>
                <a:hlinkClick r:id="rId4"/>
              </a:rPr>
              <a:t> </a:t>
            </a:r>
            <a:r>
              <a:rPr lang="en">
                <a:latin typeface="Atkinson Hyperlegible"/>
                <a:ea typeface="Atkinson Hyperlegible"/>
                <a:cs typeface="Atkinson Hyperlegible"/>
                <a:sym typeface="Atkinson Hyperlegible"/>
              </a:rPr>
              <a:t>~$1500</a:t>
            </a:r>
            <a:endParaRPr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tkinson Hyperlegible"/>
              <a:buChar char="●"/>
            </a:pPr>
            <a:r>
              <a:rPr lang="en">
                <a:solidFill>
                  <a:schemeClr val="lt1"/>
                </a:solidFill>
                <a:uFill>
                  <a:noFill/>
                </a:uFill>
                <a:latin typeface="Atkinson Hyperlegible"/>
                <a:ea typeface="Atkinson Hyperlegible"/>
                <a:cs typeface="Atkinson Hyperlegible"/>
                <a:sym typeface="Atkinson Hyperlegible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Mini Grant</a:t>
            </a:r>
            <a:r>
              <a:rPr lang="en">
                <a:solidFill>
                  <a:schemeClr val="lt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">
                <a:latin typeface="Atkinson Hyperlegible"/>
                <a:ea typeface="Atkinson Hyperlegible"/>
                <a:cs typeface="Atkinson Hyperlegible"/>
                <a:sym typeface="Atkinson Hyperlegible"/>
              </a:rPr>
              <a:t>~$1000</a:t>
            </a:r>
            <a:endParaRPr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tkinson Hyperlegible"/>
              <a:buChar char="●"/>
            </a:pPr>
            <a:r>
              <a:rPr lang="en">
                <a:solidFill>
                  <a:schemeClr val="lt1"/>
                </a:solidFill>
                <a:uFill>
                  <a:noFill/>
                </a:uFill>
                <a:latin typeface="Atkinson Hyperlegible"/>
                <a:ea typeface="Atkinson Hyperlegible"/>
                <a:cs typeface="Atkinson Hyperlegible"/>
                <a:sym typeface="Atkinson Hyperlegible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Magellan</a:t>
            </a:r>
            <a:r>
              <a:rPr lang="en">
                <a:solidFill>
                  <a:schemeClr val="lt1"/>
                </a:solidFill>
                <a:uFill>
                  <a:noFill/>
                </a:uFill>
                <a:latin typeface="Atkinson Hyperlegible"/>
                <a:ea typeface="Atkinson Hyperlegible"/>
                <a:cs typeface="Atkinson Hyperlegible"/>
                <a:sym typeface="Atkinson Hyperlegible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>
                <a:solidFill>
                  <a:schemeClr val="lt1"/>
                </a:solidFill>
                <a:uFill>
                  <a:noFill/>
                </a:uFill>
                <a:latin typeface="Atkinson Hyperlegible"/>
                <a:ea typeface="Atkinson Hyperlegible"/>
                <a:cs typeface="Atkinson Hyperlegible"/>
                <a:sym typeface="Atkinson Hyperlegible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Scholar</a:t>
            </a:r>
            <a:r>
              <a:rPr lang="en">
                <a:solidFill>
                  <a:schemeClr val="lt1"/>
                </a:solidFill>
                <a:uFill>
                  <a:noFill/>
                </a:uFill>
                <a:latin typeface="Atkinson Hyperlegible"/>
                <a:ea typeface="Atkinson Hyperlegible"/>
                <a:cs typeface="Atkinson Hyperlegible"/>
                <a:sym typeface="Atkinson Hyperlegible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Grant</a:t>
            </a:r>
            <a:r>
              <a:rPr lang="en">
                <a:solidFill>
                  <a:schemeClr val="hlink"/>
                </a:solidFill>
                <a:uFill>
                  <a:noFill/>
                </a:uFill>
                <a:latin typeface="Atkinson Hyperlegible"/>
                <a:ea typeface="Atkinson Hyperlegible"/>
                <a:cs typeface="Atkinson Hyperlegible"/>
                <a:sym typeface="Atkinson Hyperlegible"/>
                <a:hlinkClick r:id="rId10"/>
              </a:rPr>
              <a:t> </a:t>
            </a:r>
            <a:r>
              <a:rPr lang="en">
                <a:latin typeface="Atkinson Hyperlegible"/>
                <a:ea typeface="Atkinson Hyperlegible"/>
                <a:cs typeface="Atkinson Hyperlegible"/>
                <a:sym typeface="Atkinson Hyperlegible"/>
              </a:rPr>
              <a:t>~$2500</a:t>
            </a:r>
            <a:endParaRPr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tkinson Hyperlegible"/>
              <a:buChar char="●"/>
            </a:pPr>
            <a:r>
              <a:rPr lang="en">
                <a:solidFill>
                  <a:schemeClr val="lt1"/>
                </a:solidFill>
                <a:uFill>
                  <a:noFill/>
                </a:uFill>
                <a:latin typeface="Atkinson Hyperlegible"/>
                <a:ea typeface="Atkinson Hyperlegible"/>
                <a:cs typeface="Atkinson Hyperlegible"/>
                <a:sym typeface="Atkinson Hyperlegible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Conference</a:t>
            </a:r>
            <a:r>
              <a:rPr lang="en">
                <a:solidFill>
                  <a:schemeClr val="lt1"/>
                </a:solidFill>
                <a:uFill>
                  <a:noFill/>
                </a:uFill>
                <a:latin typeface="Atkinson Hyperlegible"/>
                <a:ea typeface="Atkinson Hyperlegible"/>
                <a:cs typeface="Atkinson Hyperlegible"/>
                <a:sym typeface="Atkinson Hyperlegible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Presentation Grant</a:t>
            </a:r>
            <a:r>
              <a:rPr lang="en">
                <a:solidFill>
                  <a:schemeClr val="hlink"/>
                </a:solidFill>
                <a:uFill>
                  <a:noFill/>
                </a:uFill>
                <a:latin typeface="Atkinson Hyperlegible"/>
                <a:ea typeface="Atkinson Hyperlegible"/>
                <a:cs typeface="Atkinson Hyperlegible"/>
                <a:sym typeface="Atkinson Hyperlegible"/>
                <a:hlinkClick r:id="rId13"/>
              </a:rPr>
              <a:t> </a:t>
            </a:r>
            <a:r>
              <a:rPr lang="en">
                <a:latin typeface="Atkinson Hyperlegible"/>
                <a:ea typeface="Atkinson Hyperlegible"/>
                <a:cs typeface="Atkinson Hyperlegible"/>
                <a:sym typeface="Atkinson Hyperlegible"/>
              </a:rPr>
              <a:t>~$500</a:t>
            </a:r>
            <a:endParaRPr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tkinson Hyperlegible"/>
              <a:buChar char="●"/>
            </a:pPr>
            <a:r>
              <a:rPr lang="en">
                <a:solidFill>
                  <a:schemeClr val="lt1"/>
                </a:solidFill>
                <a:uFill>
                  <a:noFill/>
                </a:uFill>
                <a:latin typeface="Atkinson Hyperlegible"/>
                <a:ea typeface="Atkinson Hyperlegible"/>
                <a:cs typeface="Atkinson Hyperlegible"/>
                <a:sym typeface="Atkinson Hyperlegible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Trio Research Engagement Grant</a:t>
            </a:r>
            <a:r>
              <a:rPr lang="en">
                <a:solidFill>
                  <a:schemeClr val="lt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 </a:t>
            </a:r>
            <a:r>
              <a:rPr lang="en">
                <a:latin typeface="Atkinson Hyperlegible"/>
                <a:ea typeface="Atkinson Hyperlegible"/>
                <a:cs typeface="Atkinson Hyperlegible"/>
                <a:sym typeface="Atkinson Hyperlegible"/>
              </a:rPr>
              <a:t>~$1000</a:t>
            </a:r>
            <a:endParaRPr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lt1"/>
                </a:solidFill>
                <a:uFill>
                  <a:noFill/>
                </a:uFill>
                <a:latin typeface="Atkinson Hyperlegible"/>
                <a:ea typeface="Atkinson Hyperlegible"/>
                <a:cs typeface="Atkinson Hyperlegible"/>
                <a:sym typeface="Atkinson Hyperlegible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PURE Program </a:t>
            </a:r>
            <a:r>
              <a:rPr lang="en">
                <a:latin typeface="Atkinson Hyperlegible"/>
                <a:ea typeface="Atkinson Hyperlegible"/>
                <a:cs typeface="Atkinson Hyperlegible"/>
                <a:sym typeface="Atkinson Hyperlegible"/>
              </a:rPr>
              <a:t>~$1</a:t>
            </a:r>
            <a:r>
              <a:rPr lang="en"/>
              <a:t>000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austin downey -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